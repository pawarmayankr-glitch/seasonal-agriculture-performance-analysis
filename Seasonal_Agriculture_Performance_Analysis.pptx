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9/3/2026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333174" y="3583863"/>
            <a:ext cx="5639100" cy="8616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spcBef>
                <a:spcPts val="0"/>
              </a:spcBef>
              <a:spcAft>
                <a:spcPts val="0"/>
              </a:spcAft>
              <a:buSzPct val="36919"/>
              <a:buNone/>
            </a:pPr>
            <a:r>
              <a:rPr b="0" lang="en-US">
                <a:solidFill>
                  <a:schemeClr val="dk1"/>
                </a:solidFill>
              </a:rPr>
              <a:t>    </a:t>
            </a:r>
            <a:r>
              <a:rPr b="0" lang="en-US" sz="4334">
                <a:solidFill>
                  <a:schemeClr val="dk1"/>
                </a:solidFill>
              </a:rPr>
              <a:t>[Student Name- Mayank Pawar </a:t>
            </a:r>
            <a:endParaRPr b="0" sz="4334">
              <a:solidFill>
                <a:schemeClr val="dk1"/>
              </a:solidFill>
            </a:endParaRPr>
          </a:p>
          <a:p>
            <a:pPr indent="0" lvl="0" marL="0" rtl="0" algn="r">
              <a:spcBef>
                <a:spcPts val="1000"/>
              </a:spcBef>
              <a:spcAft>
                <a:spcPts val="0"/>
              </a:spcAft>
              <a:buSzPct val="36919"/>
              <a:buNone/>
            </a:pPr>
            <a:r>
              <a:rPr b="0" lang="en-US" sz="4334">
                <a:solidFill>
                  <a:schemeClr val="dk1"/>
                </a:solidFill>
              </a:rPr>
              <a:t>College Name- Samrat Ashok Technological Institute Vidisha ,MP]</a:t>
            </a:r>
            <a:endParaRPr b="0" sz="4334">
              <a:solidFill>
                <a:schemeClr val="dk1"/>
              </a:solidFill>
            </a:endParaRPr>
          </a:p>
        </p:txBody>
      </p:sp>
      <p:sp>
        <p:nvSpPr>
          <p:cNvPr id="198" name="Google Shape;198;p23"/>
          <p:cNvSpPr txBox="1"/>
          <p:nvPr>
            <p:ph type="title"/>
          </p:nvPr>
        </p:nvSpPr>
        <p:spPr>
          <a:xfrm>
            <a:off x="333175" y="2806650"/>
            <a:ext cx="9524400" cy="646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Project Title - Seasonal Agriculture performance analysis</a:t>
            </a:r>
            <a:endParaRPr sz="3200"/>
          </a:p>
        </p:txBody>
      </p:sp>
      <p:sp>
        <p:nvSpPr>
          <p:cNvPr id="199" name="Google Shape;199;p23"/>
          <p:cNvSpPr txBox="1"/>
          <p:nvPr/>
        </p:nvSpPr>
        <p:spPr>
          <a:xfrm>
            <a:off x="5779425" y="2737101"/>
            <a:ext cx="3312300" cy="86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23"/>
          <p:cNvSpPr txBox="1"/>
          <p:nvPr/>
        </p:nvSpPr>
        <p:spPr>
          <a:xfrm>
            <a:off x="957525" y="4639138"/>
            <a:ext cx="4821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rebuchet MS"/>
                <a:ea typeface="Trebuchet MS"/>
                <a:cs typeface="Trebuchet MS"/>
                <a:sym typeface="Trebuchet MS"/>
              </a:rPr>
              <a:t>AICTE STU ID</a:t>
            </a:r>
            <a:r>
              <a:rPr b="1" i="0" lang="en-US" sz="1800" u="none" cap="none" strike="noStrike">
                <a:solidFill>
                  <a:schemeClr val="dk1"/>
                </a:solidFill>
                <a:latin typeface="Trebuchet MS"/>
                <a:ea typeface="Trebuchet MS"/>
                <a:cs typeface="Trebuchet MS"/>
                <a:sym typeface="Trebuchet MS"/>
              </a:rPr>
              <a:t> : </a:t>
            </a:r>
            <a:r>
              <a:rPr b="1" lang="en-US" sz="1800">
                <a:solidFill>
                  <a:schemeClr val="dk1"/>
                </a:solidFill>
                <a:latin typeface="Trebuchet MS"/>
                <a:ea typeface="Trebuchet MS"/>
                <a:cs typeface="Trebuchet MS"/>
                <a:sym typeface="Trebuchet MS"/>
              </a:rPr>
              <a:t>STU6a66c3b0386341785119664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body"/>
          </p:nvPr>
        </p:nvSpPr>
        <p:spPr>
          <a:xfrm>
            <a:off x="1036768" y="1990631"/>
            <a:ext cx="6431400" cy="36081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SzPct val="80000"/>
              <a:buChar char="▪"/>
            </a:pPr>
            <a:r>
              <a:rPr lang="en-US" sz="2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a:p>
        </p:txBody>
      </p:sp>
      <p:sp>
        <p:nvSpPr>
          <p:cNvPr id="207" name="Google Shape;207;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4"/>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4"/>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25"/>
          <p:cNvSpPr txBox="1"/>
          <p:nvPr>
            <p:ph type="title"/>
          </p:nvPr>
        </p:nvSpPr>
        <p:spPr>
          <a:xfrm>
            <a:off x="675950" y="800100"/>
            <a:ext cx="6276000" cy="424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213862"/>
              <a:buFont typeface="Trebuchet MS"/>
              <a:buNone/>
            </a:pPr>
            <a:r>
              <a:rPr lang="en-US"/>
              <a:t>Project Description</a:t>
            </a:r>
            <a:br>
              <a:rPr lang="en-US"/>
            </a:br>
            <a:r>
              <a:rPr lang="en-US" sz="2244"/>
              <a:t>This project focuses on analyzing agricultural performance across different seasons, crops and regions using data analytics techniques.</a:t>
            </a:r>
            <a:endParaRPr sz="2244"/>
          </a:p>
          <a:p>
            <a:pPr indent="0" lvl="0" marL="0" rtl="0" algn="l">
              <a:spcBef>
                <a:spcPts val="0"/>
              </a:spcBef>
              <a:spcAft>
                <a:spcPts val="0"/>
              </a:spcAft>
              <a:buClr>
                <a:schemeClr val="dk1"/>
              </a:buClr>
              <a:buSzPct val="49010"/>
              <a:buFont typeface="Arial"/>
              <a:buNone/>
            </a:pPr>
            <a:r>
              <a:rPr lang="en-US" sz="2244"/>
              <a:t>The analysis includes data cleaning, exploratory data analysis, seasonal comparison, crop and regional analysis, environmental conditions, resource usage, water efficiency, economic performance and disease/pest risk.</a:t>
            </a:r>
            <a:endParaRPr sz="2244"/>
          </a:p>
          <a:p>
            <a:pPr indent="0" lvl="0" marL="0" rtl="0" algn="l">
              <a:spcBef>
                <a:spcPts val="0"/>
              </a:spcBef>
              <a:spcAft>
                <a:spcPts val="0"/>
              </a:spcAft>
              <a:buClr>
                <a:schemeClr val="dk1"/>
              </a:buClr>
              <a:buSzPct val="49010"/>
              <a:buFont typeface="Arial"/>
              <a:buNone/>
            </a:pPr>
            <a:r>
              <a:rPr lang="en-US" sz="2244"/>
              <a:t>Statistical and visualization techniques are used to identify meaningful patterns, relationships and variations in agricultural performance and to develop evidence-based insights for better seasonal agricultural planning.</a:t>
            </a:r>
            <a:endParaRPr sz="2244"/>
          </a:p>
          <a:p>
            <a:pPr indent="0" lvl="0" marL="0" rtl="0" algn="l">
              <a:spcBef>
                <a:spcPts val="0"/>
              </a:spcBef>
              <a:spcAft>
                <a:spcPts val="0"/>
              </a:spcAft>
              <a:buClr>
                <a:schemeClr val="dk1"/>
              </a:buClr>
              <a:buSzPct val="100000"/>
              <a:buFont typeface="Trebuchet MS"/>
              <a:buNone/>
            </a:pPr>
            <a:r>
              <a:rPr lang="en-US"/>
              <a:t> </a:t>
            </a:r>
            <a:br>
              <a:rPr lang="en-US"/>
            </a:br>
            <a:endParaRPr/>
          </a:p>
        </p:txBody>
      </p:sp>
      <p:pic>
        <p:nvPicPr>
          <p:cNvPr id="215" name="Google Shape;215;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fontScale="55000"/>
          </a:bodyPr>
          <a:lstStyle/>
          <a:p>
            <a:pPr indent="-354330" lvl="0" marL="457200" rtl="0" algn="just">
              <a:lnSpc>
                <a:spcPct val="150000"/>
              </a:lnSpc>
              <a:spcBef>
                <a:spcPts val="0"/>
              </a:spcBef>
              <a:spcAft>
                <a:spcPts val="0"/>
              </a:spcAft>
              <a:buSzPct val="100000"/>
              <a:buChar char="●"/>
            </a:pPr>
            <a:r>
              <a:rPr lang="en-US" sz="3600"/>
              <a:t>Farmers – for better seasonal and crop planning</a:t>
            </a:r>
            <a:endParaRPr sz="3600"/>
          </a:p>
          <a:p>
            <a:pPr indent="-354330" lvl="0" marL="457200" rtl="0" algn="just">
              <a:lnSpc>
                <a:spcPct val="150000"/>
              </a:lnSpc>
              <a:spcBef>
                <a:spcPts val="0"/>
              </a:spcBef>
              <a:spcAft>
                <a:spcPts val="0"/>
              </a:spcAft>
              <a:buSzPct val="100000"/>
              <a:buChar char="●"/>
            </a:pPr>
            <a:r>
              <a:rPr lang="en-US" sz="3600"/>
              <a:t>Agricultural Planners – for evidence-based agricultural planning</a:t>
            </a:r>
            <a:endParaRPr sz="3600"/>
          </a:p>
          <a:p>
            <a:pPr indent="-354330" lvl="0" marL="457200" rtl="0" algn="just">
              <a:lnSpc>
                <a:spcPct val="150000"/>
              </a:lnSpc>
              <a:spcBef>
                <a:spcPts val="0"/>
              </a:spcBef>
              <a:spcAft>
                <a:spcPts val="0"/>
              </a:spcAft>
              <a:buSzPct val="100000"/>
              <a:buChar char="●"/>
            </a:pPr>
            <a:r>
              <a:rPr lang="en-US" sz="3600"/>
              <a:t>Agricultural Researchers – to study seasonal patterns and trends</a:t>
            </a:r>
            <a:endParaRPr sz="3600"/>
          </a:p>
          <a:p>
            <a:pPr indent="-354330" lvl="0" marL="457200" rtl="0" algn="just">
              <a:lnSpc>
                <a:spcPct val="150000"/>
              </a:lnSpc>
              <a:spcBef>
                <a:spcPts val="0"/>
              </a:spcBef>
              <a:spcAft>
                <a:spcPts val="0"/>
              </a:spcAft>
              <a:buSzPct val="100000"/>
              <a:buChar char="●"/>
            </a:pPr>
            <a:r>
              <a:rPr lang="en-US" sz="3600"/>
              <a:t>Government Agricultural Departments – for planning and resource management</a:t>
            </a:r>
            <a:endParaRPr sz="3600"/>
          </a:p>
          <a:p>
            <a:pPr indent="-354330" lvl="0" marL="457200" rtl="0" algn="just">
              <a:lnSpc>
                <a:spcPct val="150000"/>
              </a:lnSpc>
              <a:spcBef>
                <a:spcPts val="0"/>
              </a:spcBef>
              <a:spcAft>
                <a:spcPts val="0"/>
              </a:spcAft>
              <a:buSzPct val="100000"/>
              <a:buChar char="●"/>
            </a:pPr>
            <a:r>
              <a:rPr lang="en-US" sz="3600"/>
              <a:t>Agribusiness Organizations – to understand crop and seasonal economic performance</a:t>
            </a:r>
            <a:endParaRPr sz="3600"/>
          </a:p>
          <a:p>
            <a:pPr indent="-160020" lvl="0" marL="342900" rtl="0" algn="just">
              <a:lnSpc>
                <a:spcPct val="150000"/>
              </a:lnSpc>
              <a:spcBef>
                <a:spcPts val="0"/>
              </a:spcBef>
              <a:spcAft>
                <a:spcPts val="0"/>
              </a:spcAft>
              <a:buSzPct val="80000"/>
              <a:buNone/>
            </a:pPr>
            <a:r>
              <a:t/>
            </a:r>
            <a:endParaRPr sz="3600"/>
          </a:p>
        </p:txBody>
      </p:sp>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Effect filter="fade" transition="in">
                                      <p:cBhvr>
                                        <p:cTn dur="1000"/>
                                        <p:tgtEl>
                                          <p:spTgt spid="2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8"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1" name="Google Shape;231;p27"/>
          <p:cNvSpPr txBox="1"/>
          <p:nvPr>
            <p:ph idx="1" type="body"/>
          </p:nvPr>
        </p:nvSpPr>
        <p:spPr>
          <a:xfrm>
            <a:off x="1777993" y="1586785"/>
            <a:ext cx="9027600" cy="5243400"/>
          </a:xfrm>
          <a:prstGeom prst="rect">
            <a:avLst/>
          </a:prstGeom>
          <a:noFill/>
          <a:ln>
            <a:noFill/>
          </a:ln>
        </p:spPr>
        <p:txBody>
          <a:bodyPr anchorCtr="0" anchor="t" bIns="45700" lIns="91425" spcFirstLastPara="1" rIns="91425" wrap="square" tIns="45700">
            <a:normAutofit/>
          </a:bodyPr>
          <a:lstStyle/>
          <a:p>
            <a:pPr indent="-330200" lvl="0" marL="457200" rtl="0" algn="l">
              <a:spcBef>
                <a:spcPts val="0"/>
              </a:spcBef>
              <a:spcAft>
                <a:spcPts val="0"/>
              </a:spcAft>
              <a:buSzPts val="1600"/>
              <a:buChar char="●"/>
            </a:pPr>
            <a:r>
              <a:rPr lang="en-US"/>
              <a:t>Python</a:t>
            </a:r>
            <a:endParaRPr/>
          </a:p>
          <a:p>
            <a:pPr indent="-330200" lvl="0" marL="457200" rtl="0" algn="l">
              <a:spcBef>
                <a:spcPts val="0"/>
              </a:spcBef>
              <a:spcAft>
                <a:spcPts val="0"/>
              </a:spcAft>
              <a:buSzPts val="1600"/>
              <a:buChar char="●"/>
            </a:pPr>
            <a:r>
              <a:rPr lang="en-US"/>
              <a:t>Pandas</a:t>
            </a:r>
            <a:endParaRPr/>
          </a:p>
          <a:p>
            <a:pPr indent="-330200" lvl="0" marL="457200" rtl="0" algn="l">
              <a:spcBef>
                <a:spcPts val="0"/>
              </a:spcBef>
              <a:spcAft>
                <a:spcPts val="0"/>
              </a:spcAft>
              <a:buSzPts val="1600"/>
              <a:buChar char="●"/>
            </a:pPr>
            <a:r>
              <a:rPr lang="en-US"/>
              <a:t>NumPy</a:t>
            </a:r>
            <a:endParaRPr/>
          </a:p>
          <a:p>
            <a:pPr indent="-330200" lvl="0" marL="457200" rtl="0" algn="l">
              <a:spcBef>
                <a:spcPts val="0"/>
              </a:spcBef>
              <a:spcAft>
                <a:spcPts val="0"/>
              </a:spcAft>
              <a:buSzPts val="1600"/>
              <a:buChar char="●"/>
            </a:pPr>
            <a:r>
              <a:rPr lang="en-US"/>
              <a:t>Matplotlib</a:t>
            </a:r>
            <a:endParaRPr/>
          </a:p>
          <a:p>
            <a:pPr indent="-330200" lvl="0" marL="457200" rtl="0" algn="l">
              <a:spcBef>
                <a:spcPts val="0"/>
              </a:spcBef>
              <a:spcAft>
                <a:spcPts val="0"/>
              </a:spcAft>
              <a:buSzPts val="1600"/>
              <a:buChar char="●"/>
            </a:pPr>
            <a:r>
              <a:rPr lang="en-US"/>
              <a:t>Seaborn</a:t>
            </a:r>
            <a:endParaRPr/>
          </a:p>
          <a:p>
            <a:pPr indent="-330200" lvl="0" marL="457200" rtl="0" algn="l">
              <a:spcBef>
                <a:spcPts val="0"/>
              </a:spcBef>
              <a:spcAft>
                <a:spcPts val="0"/>
              </a:spcAft>
              <a:buSzPts val="1600"/>
              <a:buChar char="●"/>
            </a:pPr>
            <a:r>
              <a:rPr lang="en-US"/>
              <a:t>SciPy</a:t>
            </a:r>
            <a:endParaRPr/>
          </a:p>
          <a:p>
            <a:pPr indent="-330200" lvl="0" marL="457200" rtl="0" algn="l">
              <a:spcBef>
                <a:spcPts val="0"/>
              </a:spcBef>
              <a:spcAft>
                <a:spcPts val="0"/>
              </a:spcAft>
              <a:buSzPts val="1600"/>
              <a:buChar char="●"/>
            </a:pPr>
            <a:r>
              <a:rPr lang="en-US"/>
              <a:t>Google Colab</a:t>
            </a:r>
            <a:endParaRPr/>
          </a:p>
          <a:p>
            <a:pPr indent="-330200" lvl="0" marL="457200" rtl="0" algn="l">
              <a:spcBef>
                <a:spcPts val="0"/>
              </a:spcBef>
              <a:spcAft>
                <a:spcPts val="0"/>
              </a:spcAft>
              <a:buSzPts val="1600"/>
              <a:buChar char="●"/>
            </a:pPr>
            <a:r>
              <a:rPr lang="en-US"/>
              <a:t>GitHub</a:t>
            </a:r>
            <a:endParaRPr/>
          </a:p>
          <a:p>
            <a:pPr indent="-184150" lvl="1" marL="742950" rtl="0" algn="l">
              <a:lnSpc>
                <a:spcPct val="150000"/>
              </a:lnSpc>
              <a:spcBef>
                <a:spcPts val="0"/>
              </a:spcBef>
              <a:spcAft>
                <a:spcPts val="0"/>
              </a:spcAft>
              <a:buSzPts val="1600"/>
              <a:buNone/>
            </a:pPr>
            <a:r>
              <a:t/>
            </a:r>
            <a:endParaRPr/>
          </a:p>
        </p:txBody>
      </p:sp>
      <p:sp>
        <p:nvSpPr>
          <p:cNvPr id="232" name="Google Shape;232;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10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10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10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10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10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10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10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1000"/>
                                        <p:tgtEl>
                                          <p:spTgt spid="2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animEffect filter="fade" transition="in">
                                      <p:cBhvr>
                                        <p:cTn dur="1000"/>
                                        <p:tgtEl>
                                          <p:spTgt spid="23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8" name="Google Shape;238;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39" name="Google Shape;239;p2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0" name="Google Shape;240;p2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241" name="Google Shape;241;p28"/>
          <p:cNvPicPr preferRelativeResize="0"/>
          <p:nvPr/>
        </p:nvPicPr>
        <p:blipFill>
          <a:blip r:embed="rId4">
            <a:alphaModFix/>
          </a:blip>
          <a:stretch>
            <a:fillRect/>
          </a:stretch>
        </p:blipFill>
        <p:spPr>
          <a:xfrm>
            <a:off x="428550" y="1147750"/>
            <a:ext cx="5667451" cy="3957302"/>
          </a:xfrm>
          <a:prstGeom prst="rect">
            <a:avLst/>
          </a:prstGeom>
          <a:noFill/>
          <a:ln>
            <a:noFill/>
          </a:ln>
        </p:spPr>
      </p:pic>
      <p:sp>
        <p:nvSpPr>
          <p:cNvPr id="242" name="Google Shape;242;p28"/>
          <p:cNvSpPr txBox="1"/>
          <p:nvPr/>
        </p:nvSpPr>
        <p:spPr>
          <a:xfrm>
            <a:off x="6267325" y="2247900"/>
            <a:ext cx="3797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Observation:</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recorded the highest average yield.</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recorded the lowest average yield.</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Yield varies across seasons.</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8" name="Google Shape;248;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9" name="Google Shape;249;p2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0" name="Google Shape;250;p2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29"/>
          <p:cNvSpPr txBox="1"/>
          <p:nvPr>
            <p:ph idx="1" type="body"/>
          </p:nvPr>
        </p:nvSpPr>
        <p:spPr>
          <a:xfrm>
            <a:off x="186163" y="1201575"/>
            <a:ext cx="3613200" cy="31758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80000"/>
              <a:buNone/>
            </a:pPr>
            <a:r>
              <a:rPr lang="en-US"/>
              <a:t>[</a:t>
            </a:r>
            <a:r>
              <a:rPr lang="en-US"/>
              <a:t>plt.figure(figsize=(8,5))</a:t>
            </a:r>
            <a:endParaRPr/>
          </a:p>
          <a:p>
            <a:pPr indent="0" lvl="0" marL="0" rtl="0" algn="l">
              <a:spcBef>
                <a:spcPts val="0"/>
              </a:spcBef>
              <a:spcAft>
                <a:spcPts val="0"/>
              </a:spcAft>
              <a:buClr>
                <a:schemeClr val="dk1"/>
              </a:buClr>
              <a:buSzPct val="55000"/>
              <a:buFont typeface="Arial"/>
              <a:buNone/>
            </a:pPr>
            <a:r>
              <a:t/>
            </a:r>
            <a:endParaRPr/>
          </a:p>
          <a:p>
            <a:pPr indent="0" lvl="0" marL="0" rtl="0" algn="l">
              <a:spcBef>
                <a:spcPts val="0"/>
              </a:spcBef>
              <a:spcAft>
                <a:spcPts val="0"/>
              </a:spcAft>
              <a:buClr>
                <a:schemeClr val="dk1"/>
              </a:buClr>
              <a:buSzPct val="55000"/>
              <a:buFont typeface="Arial"/>
              <a:buNone/>
            </a:pPr>
            <a:r>
              <a:rPr lang="en-US"/>
              <a:t>sns.barplot(</a:t>
            </a:r>
            <a:endParaRPr/>
          </a:p>
          <a:p>
            <a:pPr indent="0" lvl="0" marL="0" rtl="0" algn="l">
              <a:spcBef>
                <a:spcPts val="0"/>
              </a:spcBef>
              <a:spcAft>
                <a:spcPts val="0"/>
              </a:spcAft>
              <a:buClr>
                <a:schemeClr val="dk1"/>
              </a:buClr>
              <a:buSzPct val="55000"/>
              <a:buFont typeface="Arial"/>
              <a:buNone/>
            </a:pPr>
            <a:r>
              <a:rPr lang="en-US"/>
              <a:t>    data=df,</a:t>
            </a:r>
            <a:endParaRPr/>
          </a:p>
          <a:p>
            <a:pPr indent="0" lvl="0" marL="0" rtl="0" algn="l">
              <a:spcBef>
                <a:spcPts val="0"/>
              </a:spcBef>
              <a:spcAft>
                <a:spcPts val="0"/>
              </a:spcAft>
              <a:buClr>
                <a:schemeClr val="dk1"/>
              </a:buClr>
              <a:buSzPct val="55000"/>
              <a:buFont typeface="Arial"/>
              <a:buNone/>
            </a:pPr>
            <a:r>
              <a:rPr lang="en-US"/>
              <a:t>    x='Season',</a:t>
            </a:r>
            <a:endParaRPr/>
          </a:p>
          <a:p>
            <a:pPr indent="0" lvl="0" marL="0" rtl="0" algn="l">
              <a:spcBef>
                <a:spcPts val="0"/>
              </a:spcBef>
              <a:spcAft>
                <a:spcPts val="0"/>
              </a:spcAft>
              <a:buClr>
                <a:schemeClr val="dk1"/>
              </a:buClr>
              <a:buSzPct val="55000"/>
              <a:buFont typeface="Arial"/>
              <a:buNone/>
            </a:pPr>
            <a:r>
              <a:rPr lang="en-US"/>
              <a:t>    y='Profit_INR',</a:t>
            </a:r>
            <a:endParaRPr/>
          </a:p>
          <a:p>
            <a:pPr indent="0" lvl="0" marL="0" rtl="0" algn="l">
              <a:spcBef>
                <a:spcPts val="0"/>
              </a:spcBef>
              <a:spcAft>
                <a:spcPts val="0"/>
              </a:spcAft>
              <a:buClr>
                <a:schemeClr val="dk1"/>
              </a:buClr>
              <a:buSzPct val="55000"/>
              <a:buFont typeface="Arial"/>
              <a:buNone/>
            </a:pPr>
            <a:r>
              <a:rPr lang="en-US"/>
              <a:t>    estimator='mean'</a:t>
            </a:r>
            <a:endParaRPr/>
          </a:p>
          <a:p>
            <a:pPr indent="0" lvl="0" marL="0" rtl="0" algn="l">
              <a:spcBef>
                <a:spcPts val="0"/>
              </a:spcBef>
              <a:spcAft>
                <a:spcPts val="0"/>
              </a:spcAft>
              <a:buClr>
                <a:schemeClr val="dk1"/>
              </a:buClr>
              <a:buSzPct val="55000"/>
              <a:buFont typeface="Arial"/>
              <a:buNone/>
            </a:pPr>
            <a:r>
              <a:rPr lang="en-US"/>
              <a:t>)</a:t>
            </a:r>
            <a:endParaRPr/>
          </a:p>
          <a:p>
            <a:pPr indent="0" lvl="0" marL="0" rtl="0" algn="l">
              <a:spcBef>
                <a:spcPts val="0"/>
              </a:spcBef>
              <a:spcAft>
                <a:spcPts val="0"/>
              </a:spcAft>
              <a:buClr>
                <a:schemeClr val="dk1"/>
              </a:buClr>
              <a:buSzPct val="55000"/>
              <a:buFont typeface="Arial"/>
              <a:buNone/>
            </a:pPr>
            <a:r>
              <a:t/>
            </a:r>
            <a:endParaRPr/>
          </a:p>
          <a:p>
            <a:pPr indent="0" lvl="0" marL="0" rtl="0" algn="l">
              <a:spcBef>
                <a:spcPts val="0"/>
              </a:spcBef>
              <a:spcAft>
                <a:spcPts val="0"/>
              </a:spcAft>
              <a:buClr>
                <a:schemeClr val="dk1"/>
              </a:buClr>
              <a:buSzPct val="55000"/>
              <a:buFont typeface="Arial"/>
              <a:buNone/>
            </a:pPr>
            <a:r>
              <a:rPr lang="en-US"/>
              <a:t>plt.title('Average Profit by Season')</a:t>
            </a:r>
            <a:endParaRPr/>
          </a:p>
          <a:p>
            <a:pPr indent="0" lvl="0" marL="0" rtl="0" algn="l">
              <a:spcBef>
                <a:spcPts val="0"/>
              </a:spcBef>
              <a:spcAft>
                <a:spcPts val="0"/>
              </a:spcAft>
              <a:buClr>
                <a:schemeClr val="dk1"/>
              </a:buClr>
              <a:buSzPct val="55000"/>
              <a:buFont typeface="Arial"/>
              <a:buNone/>
            </a:pPr>
            <a:r>
              <a:rPr lang="en-US"/>
              <a:t>plt.xlabel('Season')</a:t>
            </a:r>
            <a:endParaRPr/>
          </a:p>
          <a:p>
            <a:pPr indent="0" lvl="0" marL="0" rtl="0" algn="l">
              <a:spcBef>
                <a:spcPts val="0"/>
              </a:spcBef>
              <a:spcAft>
                <a:spcPts val="0"/>
              </a:spcAft>
              <a:buClr>
                <a:schemeClr val="dk1"/>
              </a:buClr>
              <a:buSzPct val="55000"/>
              <a:buFont typeface="Arial"/>
              <a:buNone/>
            </a:pPr>
            <a:r>
              <a:rPr lang="en-US"/>
              <a:t>plt.ylabel('Average Profit (INR)')</a:t>
            </a:r>
            <a:endParaRPr/>
          </a:p>
          <a:p>
            <a:pPr indent="0" lvl="0" marL="0" rtl="0" algn="l">
              <a:spcBef>
                <a:spcPts val="0"/>
              </a:spcBef>
              <a:spcAft>
                <a:spcPts val="0"/>
              </a:spcAft>
              <a:buClr>
                <a:schemeClr val="dk1"/>
              </a:buClr>
              <a:buSzPct val="55000"/>
              <a:buFont typeface="Arial"/>
              <a:buNone/>
            </a:pPr>
            <a:r>
              <a:rPr lang="en-US"/>
              <a:t>plt.show()</a:t>
            </a:r>
            <a:endParaRPr/>
          </a:p>
          <a:p>
            <a:pPr indent="0" lvl="0" marL="0" rtl="0" algn="l">
              <a:spcBef>
                <a:spcPts val="0"/>
              </a:spcBef>
              <a:spcAft>
                <a:spcPts val="0"/>
              </a:spcAft>
              <a:buSzPct val="80000"/>
              <a:buNone/>
            </a:pPr>
            <a:r>
              <a:rPr lang="en-US"/>
              <a:t> ]</a:t>
            </a:r>
            <a:endParaRPr/>
          </a:p>
        </p:txBody>
      </p:sp>
      <p:sp>
        <p:nvSpPr>
          <p:cNvPr id="252" name="Google Shape;252;p29"/>
          <p:cNvSpPr txBox="1"/>
          <p:nvPr/>
        </p:nvSpPr>
        <p:spPr>
          <a:xfrm>
            <a:off x="5369800" y="2270650"/>
            <a:ext cx="6850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53" name="Google Shape;253;p29"/>
          <p:cNvPicPr preferRelativeResize="0"/>
          <p:nvPr/>
        </p:nvPicPr>
        <p:blipFill>
          <a:blip r:embed="rId4">
            <a:alphaModFix/>
          </a:blip>
          <a:stretch>
            <a:fillRect/>
          </a:stretch>
        </p:blipFill>
        <p:spPr>
          <a:xfrm>
            <a:off x="4345700" y="2056550"/>
            <a:ext cx="5784376" cy="2998750"/>
          </a:xfrm>
          <a:prstGeom prst="rect">
            <a:avLst/>
          </a:prstGeom>
          <a:noFill/>
          <a:ln>
            <a:noFill/>
          </a:ln>
        </p:spPr>
      </p:pic>
      <p:sp>
        <p:nvSpPr>
          <p:cNvPr id="254" name="Google Shape;254;p29"/>
          <p:cNvSpPr txBox="1"/>
          <p:nvPr/>
        </p:nvSpPr>
        <p:spPr>
          <a:xfrm>
            <a:off x="974225" y="5216375"/>
            <a:ext cx="6850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shows the strongest performance.</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indent="-342900" lvl="0" marL="457200" rtl="0" algn="l">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10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10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6" st="6"/>
                                            </p:txEl>
                                          </p:spTgt>
                                        </p:tgtEl>
                                        <p:attrNameLst>
                                          <p:attrName>style.visibility</p:attrName>
                                        </p:attrNameLst>
                                      </p:cBhvr>
                                      <p:to>
                                        <p:strVal val="visible"/>
                                      </p:to>
                                    </p:set>
                                    <p:animEffect filter="fade" transition="in">
                                      <p:cBhvr>
                                        <p:cTn dur="1000"/>
                                        <p:tgtEl>
                                          <p:spTgt spid="2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7" st="7"/>
                                            </p:txEl>
                                          </p:spTgt>
                                        </p:tgtEl>
                                        <p:attrNameLst>
                                          <p:attrName>style.visibility</p:attrName>
                                        </p:attrNameLst>
                                      </p:cBhvr>
                                      <p:to>
                                        <p:strVal val="visible"/>
                                      </p:to>
                                    </p:set>
                                    <p:animEffect filter="fade" transition="in">
                                      <p:cBhvr>
                                        <p:cTn dur="1000"/>
                                        <p:tgtEl>
                                          <p:spTgt spid="2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8" st="8"/>
                                            </p:txEl>
                                          </p:spTgt>
                                        </p:tgtEl>
                                        <p:attrNameLst>
                                          <p:attrName>style.visibility</p:attrName>
                                        </p:attrNameLst>
                                      </p:cBhvr>
                                      <p:to>
                                        <p:strVal val="visible"/>
                                      </p:to>
                                    </p:set>
                                    <p:animEffect filter="fade" transition="in">
                                      <p:cBhvr>
                                        <p:cTn dur="1000"/>
                                        <p:tgtEl>
                                          <p:spTgt spid="2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9" st="9"/>
                                            </p:txEl>
                                          </p:spTgt>
                                        </p:tgtEl>
                                        <p:attrNameLst>
                                          <p:attrName>style.visibility</p:attrName>
                                        </p:attrNameLst>
                                      </p:cBhvr>
                                      <p:to>
                                        <p:strVal val="visible"/>
                                      </p:to>
                                    </p:set>
                                    <p:animEffect filter="fade" transition="in">
                                      <p:cBhvr>
                                        <p:cTn dur="1000"/>
                                        <p:tgtEl>
                                          <p:spTgt spid="2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0" st="10"/>
                                            </p:txEl>
                                          </p:spTgt>
                                        </p:tgtEl>
                                        <p:attrNameLst>
                                          <p:attrName>style.visibility</p:attrName>
                                        </p:attrNameLst>
                                      </p:cBhvr>
                                      <p:to>
                                        <p:strVal val="visible"/>
                                      </p:to>
                                    </p:set>
                                    <p:animEffect filter="fade" transition="in">
                                      <p:cBhvr>
                                        <p:cTn dur="1000"/>
                                        <p:tgtEl>
                                          <p:spTgt spid="2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1" st="11"/>
                                            </p:txEl>
                                          </p:spTgt>
                                        </p:tgtEl>
                                        <p:attrNameLst>
                                          <p:attrName>style.visibility</p:attrName>
                                        </p:attrNameLst>
                                      </p:cBhvr>
                                      <p:to>
                                        <p:strVal val="visible"/>
                                      </p:to>
                                    </p:set>
                                    <p:animEffect filter="fade" transition="in">
                                      <p:cBhvr>
                                        <p:cTn dur="1000"/>
                                        <p:tgtEl>
                                          <p:spTgt spid="25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2" st="12"/>
                                            </p:txEl>
                                          </p:spTgt>
                                        </p:tgtEl>
                                        <p:attrNameLst>
                                          <p:attrName>style.visibility</p:attrName>
                                        </p:attrNameLst>
                                      </p:cBhvr>
                                      <p:to>
                                        <p:strVal val="visible"/>
                                      </p:to>
                                    </p:set>
                                    <p:animEffect filter="fade" transition="in">
                                      <p:cBhvr>
                                        <p:cTn dur="1000"/>
                                        <p:tgtEl>
                                          <p:spTgt spid="25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3" st="13"/>
                                            </p:txEl>
                                          </p:spTgt>
                                        </p:tgtEl>
                                        <p:attrNameLst>
                                          <p:attrName>style.visibility</p:attrName>
                                        </p:attrNameLst>
                                      </p:cBhvr>
                                      <p:to>
                                        <p:strVal val="visible"/>
                                      </p:to>
                                    </p:set>
                                    <p:animEffect filter="fade" transition="in">
                                      <p:cBhvr>
                                        <p:cTn dur="1000"/>
                                        <p:tgtEl>
                                          <p:spTgt spid="251">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0" name="Google Shape;260;p3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1" name="Google Shape;261;p3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2" name="Google Shape;262;p3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3" name="Google Shape;263;p30"/>
          <p:cNvSpPr txBox="1"/>
          <p:nvPr>
            <p:ph idx="1" type="body"/>
          </p:nvPr>
        </p:nvSpPr>
        <p:spPr>
          <a:xfrm>
            <a:off x="444925" y="1201575"/>
            <a:ext cx="4257600" cy="40149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SzPct val="50278"/>
              <a:buNone/>
            </a:pPr>
            <a:r>
              <a:rPr lang="en-US" sz="3182"/>
              <a:t>[</a:t>
            </a:r>
            <a:r>
              <a:rPr lang="en-US" sz="2232">
                <a:solidFill>
                  <a:schemeClr val="dk1"/>
                </a:solidFill>
                <a:highlight>
                  <a:srgbClr val="FFFFFF"/>
                </a:highlight>
                <a:latin typeface="Courier New"/>
                <a:ea typeface="Courier New"/>
                <a:cs typeface="Courier New"/>
                <a:sym typeface="Courier New"/>
              </a:rPr>
              <a:t>economic_summary = df.groupby(</a:t>
            </a:r>
            <a:r>
              <a:rPr lang="en-US" sz="2232">
                <a:solidFill>
                  <a:srgbClr val="A31515"/>
                </a:solidFill>
                <a:highlight>
                  <a:srgbClr val="FFFFFF"/>
                </a:highlight>
                <a:latin typeface="Courier New"/>
                <a:ea typeface="Courier New"/>
                <a:cs typeface="Courier New"/>
                <a:sym typeface="Courier New"/>
              </a:rPr>
              <a:t>'Season'</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'Total_Cost_INR'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'Revenue_INR'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a:t>
            </a:r>
            <a:r>
              <a:rPr lang="en-US" sz="2232">
                <a:solidFill>
                  <a:srgbClr val="A31515"/>
                </a:solidFill>
                <a:highlight>
                  <a:srgbClr val="FFFFFF"/>
                </a:highlight>
                <a:latin typeface="Courier New"/>
                <a:ea typeface="Courier New"/>
                <a:cs typeface="Courier New"/>
                <a:sym typeface="Courier New"/>
              </a:rPr>
              <a:t>'Profit_INR'</a:t>
            </a:r>
            <a:endParaRPr sz="2232">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]].mean()</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economic_summary.plot(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kind=</a:t>
            </a:r>
            <a:r>
              <a:rPr lang="en-US" sz="2232">
                <a:solidFill>
                  <a:srgbClr val="A31515"/>
                </a:solidFill>
                <a:highlight>
                  <a:srgbClr val="FFFFFF"/>
                </a:highlight>
                <a:latin typeface="Courier New"/>
                <a:ea typeface="Courier New"/>
                <a:cs typeface="Courier New"/>
                <a:sym typeface="Courier New"/>
              </a:rPr>
              <a:t>'bar'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    figsize=(</a:t>
            </a:r>
            <a:r>
              <a:rPr lang="en-US" sz="2232">
                <a:solidFill>
                  <a:srgbClr val="116644"/>
                </a:solidFill>
                <a:highlight>
                  <a:srgbClr val="FFFFFF"/>
                </a:highlight>
                <a:latin typeface="Courier New"/>
                <a:ea typeface="Courier New"/>
                <a:cs typeface="Courier New"/>
                <a:sym typeface="Courier New"/>
              </a:rPr>
              <a:t>10</a:t>
            </a:r>
            <a:r>
              <a:rPr lang="en-US" sz="2232">
                <a:solidFill>
                  <a:schemeClr val="dk1"/>
                </a:solidFill>
                <a:highlight>
                  <a:srgbClr val="FFFFFF"/>
                </a:highlight>
                <a:latin typeface="Courier New"/>
                <a:ea typeface="Courier New"/>
                <a:cs typeface="Courier New"/>
                <a:sym typeface="Courier New"/>
              </a:rPr>
              <a:t>,</a:t>
            </a:r>
            <a:r>
              <a:rPr lang="en-US" sz="2232">
                <a:solidFill>
                  <a:srgbClr val="116644"/>
                </a:solidFill>
                <a:highlight>
                  <a:srgbClr val="FFFFFF"/>
                </a:highlight>
                <a:latin typeface="Courier New"/>
                <a:ea typeface="Courier New"/>
                <a:cs typeface="Courier New"/>
                <a:sym typeface="Courier New"/>
              </a:rPr>
              <a:t>6</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a:t>
            </a:r>
            <a:endParaRPr sz="24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plt.title(</a:t>
            </a:r>
            <a:r>
              <a:rPr lang="en-US" sz="2232">
                <a:solidFill>
                  <a:srgbClr val="A31515"/>
                </a:solidFill>
                <a:highlight>
                  <a:srgbClr val="FFFFFF"/>
                </a:highlight>
                <a:latin typeface="Courier New"/>
                <a:ea typeface="Courier New"/>
                <a:cs typeface="Courier New"/>
                <a:sym typeface="Courier New"/>
              </a:rPr>
              <a:t>'Economic Performance Across Seasons'</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plt.xlabel(</a:t>
            </a:r>
            <a:r>
              <a:rPr lang="en-US" sz="2232">
                <a:solidFill>
                  <a:srgbClr val="A31515"/>
                </a:solidFill>
                <a:highlight>
                  <a:srgbClr val="FFFFFF"/>
                </a:highlight>
                <a:latin typeface="Courier New"/>
                <a:ea typeface="Courier New"/>
                <a:cs typeface="Courier New"/>
                <a:sym typeface="Courier New"/>
              </a:rPr>
              <a:t>'Season'</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plt.ylabel(</a:t>
            </a:r>
            <a:r>
              <a:rPr lang="en-US" sz="2232">
                <a:solidFill>
                  <a:srgbClr val="A31515"/>
                </a:solidFill>
                <a:highlight>
                  <a:srgbClr val="FFFFFF"/>
                </a:highlight>
                <a:latin typeface="Courier New"/>
                <a:ea typeface="Courier New"/>
                <a:cs typeface="Courier New"/>
                <a:sym typeface="Courier New"/>
              </a:rPr>
              <a:t>'Amount (INR)'</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plt.xticks(rotation=</a:t>
            </a:r>
            <a:r>
              <a:rPr lang="en-US" sz="2232">
                <a:solidFill>
                  <a:srgbClr val="116644"/>
                </a:solidFill>
                <a:highlight>
                  <a:srgbClr val="FFFFFF"/>
                </a:highlight>
                <a:latin typeface="Courier New"/>
                <a:ea typeface="Courier New"/>
                <a:cs typeface="Courier New"/>
                <a:sym typeface="Courier New"/>
              </a:rPr>
              <a:t>0</a:t>
            </a:r>
            <a:r>
              <a:rPr lang="en-US" sz="2232">
                <a:solidFill>
                  <a:schemeClr val="dk1"/>
                </a:solidFill>
                <a:highlight>
                  <a:srgbClr val="FFFFFF"/>
                </a:highlight>
                <a:latin typeface="Courier New"/>
                <a:ea typeface="Courier New"/>
                <a:cs typeface="Courier New"/>
                <a:sym typeface="Courier New"/>
              </a:rPr>
              <a:t>)</a:t>
            </a:r>
            <a:endParaRPr sz="2232">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9276"/>
              <a:buFont typeface="Arial"/>
              <a:buNone/>
            </a:pPr>
            <a:r>
              <a:rPr lang="en-US" sz="2232">
                <a:solidFill>
                  <a:schemeClr val="dk1"/>
                </a:solidFill>
                <a:highlight>
                  <a:srgbClr val="FFFFFF"/>
                </a:highlight>
                <a:latin typeface="Courier New"/>
                <a:ea typeface="Courier New"/>
                <a:cs typeface="Courier New"/>
                <a:sym typeface="Courier New"/>
              </a:rPr>
              <a:t>plt.show()</a:t>
            </a:r>
            <a:endParaRPr sz="2232">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ct val="80000"/>
              <a:buNone/>
            </a:pPr>
            <a:r>
              <a:rPr lang="en-US"/>
              <a:t>]</a:t>
            </a:r>
            <a:endParaRPr/>
          </a:p>
        </p:txBody>
      </p:sp>
      <p:sp>
        <p:nvSpPr>
          <p:cNvPr id="264" name="Google Shape;264;p30"/>
          <p:cNvSpPr txBox="1"/>
          <p:nvPr/>
        </p:nvSpPr>
        <p:spPr>
          <a:xfrm>
            <a:off x="6129250" y="2592850"/>
            <a:ext cx="609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65" name="Google Shape;265;p30"/>
          <p:cNvPicPr preferRelativeResize="0"/>
          <p:nvPr/>
        </p:nvPicPr>
        <p:blipFill>
          <a:blip r:embed="rId4">
            <a:alphaModFix/>
          </a:blip>
          <a:stretch>
            <a:fillRect/>
          </a:stretch>
        </p:blipFill>
        <p:spPr>
          <a:xfrm>
            <a:off x="4978600" y="2086550"/>
            <a:ext cx="5004499" cy="3129926"/>
          </a:xfrm>
          <a:prstGeom prst="rect">
            <a:avLst/>
          </a:prstGeom>
          <a:noFill/>
          <a:ln>
            <a:noFill/>
          </a:ln>
        </p:spPr>
      </p:pic>
      <p:sp>
        <p:nvSpPr>
          <p:cNvPr id="266" name="Google Shape;266;p30"/>
          <p:cNvSpPr txBox="1"/>
          <p:nvPr/>
        </p:nvSpPr>
        <p:spPr>
          <a:xfrm>
            <a:off x="647700" y="5425350"/>
            <a:ext cx="6954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Kharif shows the strongest average economic performance.</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ppt_w</p:attrName>
                                        </p:attrNameLst>
                                      </p:cBhvr>
                                      <p:tavLst>
                                        <p:tav fmla="" tm="0">
                                          <p:val>
                                            <p:strVal val="0"/>
                                          </p:val>
                                        </p:tav>
                                        <p:tav fmla="" tm="100000">
                                          <p:val>
                                            <p:strVal val="#ppt_w"/>
                                          </p:val>
                                        </p:tav>
                                      </p:tavLst>
                                    </p:anim>
                                    <p:anim calcmode="lin" valueType="num">
                                      <p:cBhvr additive="base">
                                        <p:cTn dur="500"/>
                                        <p:tgtEl>
                                          <p:spTgt spid="2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animEffect filter="fade" transition="in">
                                      <p:cBhvr>
                                        <p:cTn dur="1000"/>
                                        <p:tgtEl>
                                          <p:spTgt spid="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animEffect filter="fade" transition="in">
                                      <p:cBhvr>
                                        <p:cTn dur="1000"/>
                                        <p:tgtEl>
                                          <p:spTgt spid="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animEffect filter="fade" transition="in">
                                      <p:cBhvr>
                                        <p:cTn dur="1000"/>
                                        <p:tgtEl>
                                          <p:spTgt spid="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animEffect filter="fade" transition="in">
                                      <p:cBhvr>
                                        <p:cTn dur="1000"/>
                                        <p:tgtEl>
                                          <p:spTgt spid="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animEffect filter="fade" transition="in">
                                      <p:cBhvr>
                                        <p:cTn dur="1000"/>
                                        <p:tgtEl>
                                          <p:spTgt spid="2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animEffect filter="fade" transition="in">
                                      <p:cBhvr>
                                        <p:cTn dur="1000"/>
                                        <p:tgtEl>
                                          <p:spTgt spid="2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6" st="6"/>
                                            </p:txEl>
                                          </p:spTgt>
                                        </p:tgtEl>
                                        <p:attrNameLst>
                                          <p:attrName>style.visibility</p:attrName>
                                        </p:attrNameLst>
                                      </p:cBhvr>
                                      <p:to>
                                        <p:strVal val="visible"/>
                                      </p:to>
                                    </p:set>
                                    <p:animEffect filter="fade" transition="in">
                                      <p:cBhvr>
                                        <p:cTn dur="1000"/>
                                        <p:tgtEl>
                                          <p:spTgt spid="2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7" st="7"/>
                                            </p:txEl>
                                          </p:spTgt>
                                        </p:tgtEl>
                                        <p:attrNameLst>
                                          <p:attrName>style.visibility</p:attrName>
                                        </p:attrNameLst>
                                      </p:cBhvr>
                                      <p:to>
                                        <p:strVal val="visible"/>
                                      </p:to>
                                    </p:set>
                                    <p:animEffect filter="fade" transition="in">
                                      <p:cBhvr>
                                        <p:cTn dur="1000"/>
                                        <p:tgtEl>
                                          <p:spTgt spid="2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8" st="8"/>
                                            </p:txEl>
                                          </p:spTgt>
                                        </p:tgtEl>
                                        <p:attrNameLst>
                                          <p:attrName>style.visibility</p:attrName>
                                        </p:attrNameLst>
                                      </p:cBhvr>
                                      <p:to>
                                        <p:strVal val="visible"/>
                                      </p:to>
                                    </p:set>
                                    <p:animEffect filter="fade" transition="in">
                                      <p:cBhvr>
                                        <p:cTn dur="1000"/>
                                        <p:tgtEl>
                                          <p:spTgt spid="2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9" st="9"/>
                                            </p:txEl>
                                          </p:spTgt>
                                        </p:tgtEl>
                                        <p:attrNameLst>
                                          <p:attrName>style.visibility</p:attrName>
                                        </p:attrNameLst>
                                      </p:cBhvr>
                                      <p:to>
                                        <p:strVal val="visible"/>
                                      </p:to>
                                    </p:set>
                                    <p:animEffect filter="fade" transition="in">
                                      <p:cBhvr>
                                        <p:cTn dur="1000"/>
                                        <p:tgtEl>
                                          <p:spTgt spid="2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0" st="10"/>
                                            </p:txEl>
                                          </p:spTgt>
                                        </p:tgtEl>
                                        <p:attrNameLst>
                                          <p:attrName>style.visibility</p:attrName>
                                        </p:attrNameLst>
                                      </p:cBhvr>
                                      <p:to>
                                        <p:strVal val="visible"/>
                                      </p:to>
                                    </p:set>
                                    <p:animEffect filter="fade" transition="in">
                                      <p:cBhvr>
                                        <p:cTn dur="1000"/>
                                        <p:tgtEl>
                                          <p:spTgt spid="26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1" st="11"/>
                                            </p:txEl>
                                          </p:spTgt>
                                        </p:tgtEl>
                                        <p:attrNameLst>
                                          <p:attrName>style.visibility</p:attrName>
                                        </p:attrNameLst>
                                      </p:cBhvr>
                                      <p:to>
                                        <p:strVal val="visible"/>
                                      </p:to>
                                    </p:set>
                                    <p:animEffect filter="fade" transition="in">
                                      <p:cBhvr>
                                        <p:cTn dur="1000"/>
                                        <p:tgtEl>
                                          <p:spTgt spid="26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2" st="12"/>
                                            </p:txEl>
                                          </p:spTgt>
                                        </p:tgtEl>
                                        <p:attrNameLst>
                                          <p:attrName>style.visibility</p:attrName>
                                        </p:attrNameLst>
                                      </p:cBhvr>
                                      <p:to>
                                        <p:strVal val="visible"/>
                                      </p:to>
                                    </p:set>
                                    <p:animEffect filter="fade" transition="in">
                                      <p:cBhvr>
                                        <p:cTn dur="1000"/>
                                        <p:tgtEl>
                                          <p:spTgt spid="26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3" st="13"/>
                                            </p:txEl>
                                          </p:spTgt>
                                        </p:tgtEl>
                                        <p:attrNameLst>
                                          <p:attrName>style.visibility</p:attrName>
                                        </p:attrNameLst>
                                      </p:cBhvr>
                                      <p:to>
                                        <p:strVal val="visible"/>
                                      </p:to>
                                    </p:set>
                                    <p:animEffect filter="fade" transition="in">
                                      <p:cBhvr>
                                        <p:cTn dur="1000"/>
                                        <p:tgtEl>
                                          <p:spTgt spid="26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4" st="14"/>
                                            </p:txEl>
                                          </p:spTgt>
                                        </p:tgtEl>
                                        <p:attrNameLst>
                                          <p:attrName>style.visibility</p:attrName>
                                        </p:attrNameLst>
                                      </p:cBhvr>
                                      <p:to>
                                        <p:strVal val="visible"/>
                                      </p:to>
                                    </p:set>
                                    <p:animEffect filter="fade" transition="in">
                                      <p:cBhvr>
                                        <p:cTn dur="1000"/>
                                        <p:tgtEl>
                                          <p:spTgt spid="26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5" st="15"/>
                                            </p:txEl>
                                          </p:spTgt>
                                        </p:tgtEl>
                                        <p:attrNameLst>
                                          <p:attrName>style.visibility</p:attrName>
                                        </p:attrNameLst>
                                      </p:cBhvr>
                                      <p:to>
                                        <p:strVal val="visible"/>
                                      </p:to>
                                    </p:set>
                                    <p:animEffect filter="fade" transition="in">
                                      <p:cBhvr>
                                        <p:cTn dur="1000"/>
                                        <p:tgtEl>
                                          <p:spTgt spid="26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xEl>
                                              <p:pRg end="16" st="16"/>
                                            </p:txEl>
                                          </p:spTgt>
                                        </p:tgtEl>
                                        <p:attrNameLst>
                                          <p:attrName>style.visibility</p:attrName>
                                        </p:attrNameLst>
                                      </p:cBhvr>
                                      <p:to>
                                        <p:strVal val="visible"/>
                                      </p:to>
                                    </p:set>
                                    <p:animEffect filter="fade" transition="in">
                                      <p:cBhvr>
                                        <p:cTn dur="1000"/>
                                        <p:tgtEl>
                                          <p:spTgt spid="263">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2" name="Google Shape;272;p31"/>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3" name="Google Shape;273;p3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4" name="Google Shape;274;p3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5" name="Google Shape;275;p31"/>
          <p:cNvSpPr txBox="1"/>
          <p:nvPr>
            <p:ph idx="1" type="body"/>
          </p:nvPr>
        </p:nvSpPr>
        <p:spPr>
          <a:xfrm>
            <a:off x="536975" y="1073950"/>
            <a:ext cx="3808800" cy="36822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SzPct val="65105"/>
              <a:buNone/>
            </a:pPr>
            <a:r>
              <a:rPr lang="en-US"/>
              <a:t>[</a:t>
            </a:r>
            <a:r>
              <a:rPr lang="en-US" sz="2458">
                <a:solidFill>
                  <a:schemeClr val="dk1"/>
                </a:solidFill>
                <a:highlight>
                  <a:srgbClr val="FFFFFF"/>
                </a:highlight>
                <a:latin typeface="Courier New"/>
                <a:ea typeface="Courier New"/>
                <a:cs typeface="Courier New"/>
                <a:sym typeface="Courier New"/>
              </a:rPr>
              <a:t>plt.figure(figsize=(</a:t>
            </a:r>
            <a:r>
              <a:rPr lang="en-US" sz="2458">
                <a:solidFill>
                  <a:srgbClr val="116644"/>
                </a:solidFill>
                <a:highlight>
                  <a:srgbClr val="FFFFFF"/>
                </a:highlight>
                <a:latin typeface="Courier New"/>
                <a:ea typeface="Courier New"/>
                <a:cs typeface="Courier New"/>
                <a:sym typeface="Courier New"/>
              </a:rPr>
              <a:t>12</a:t>
            </a:r>
            <a:r>
              <a:rPr lang="en-US" sz="2458">
                <a:solidFill>
                  <a:schemeClr val="dk1"/>
                </a:solidFill>
                <a:highlight>
                  <a:srgbClr val="FFFFFF"/>
                </a:highlight>
                <a:latin typeface="Courier New"/>
                <a:ea typeface="Courier New"/>
                <a:cs typeface="Courier New"/>
                <a:sym typeface="Courier New"/>
              </a:rPr>
              <a:t>,</a:t>
            </a:r>
            <a:r>
              <a:rPr lang="en-US" sz="2458">
                <a:solidFill>
                  <a:srgbClr val="116644"/>
                </a:solidFill>
                <a:highlight>
                  <a:srgbClr val="FFFFFF"/>
                </a:highlight>
                <a:latin typeface="Courier New"/>
                <a:ea typeface="Courier New"/>
                <a:cs typeface="Courier New"/>
                <a:sym typeface="Courier New"/>
              </a:rPr>
              <a:t>6</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sns.barplot(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data=df,</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x=</a:t>
            </a:r>
            <a:r>
              <a:rPr lang="en-US" sz="2458">
                <a:solidFill>
                  <a:srgbClr val="A31515"/>
                </a:solidFill>
                <a:highlight>
                  <a:srgbClr val="FFFFFF"/>
                </a:highlight>
                <a:latin typeface="Courier New"/>
                <a:ea typeface="Courier New"/>
                <a:cs typeface="Courier New"/>
                <a:sym typeface="Courier New"/>
              </a:rPr>
              <a:t>'Crop'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y=</a:t>
            </a:r>
            <a:r>
              <a:rPr lang="en-US" sz="2458">
                <a:solidFill>
                  <a:srgbClr val="A31515"/>
                </a:solidFill>
                <a:highlight>
                  <a:srgbClr val="FFFFFF"/>
                </a:highlight>
                <a:latin typeface="Courier New"/>
                <a:ea typeface="Courier New"/>
                <a:cs typeface="Courier New"/>
                <a:sym typeface="Courier New"/>
              </a:rPr>
              <a:t>'Profit_INR'</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    estimator=</a:t>
            </a:r>
            <a:r>
              <a:rPr lang="en-US" sz="2458">
                <a:solidFill>
                  <a:srgbClr val="A31515"/>
                </a:solidFill>
                <a:highlight>
                  <a:srgbClr val="FFFFFF"/>
                </a:highlight>
                <a:latin typeface="Courier New"/>
                <a:ea typeface="Courier New"/>
                <a:cs typeface="Courier New"/>
                <a:sym typeface="Courier New"/>
              </a:rPr>
              <a:t>'mean'</a:t>
            </a:r>
            <a:endParaRPr sz="2458">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plt.title(</a:t>
            </a:r>
            <a:r>
              <a:rPr lang="en-US" sz="2458">
                <a:solidFill>
                  <a:srgbClr val="A31515"/>
                </a:solidFill>
                <a:highlight>
                  <a:srgbClr val="FFFFFF"/>
                </a:highlight>
                <a:latin typeface="Courier New"/>
                <a:ea typeface="Courier New"/>
                <a:cs typeface="Courier New"/>
                <a:sym typeface="Courier New"/>
              </a:rPr>
              <a:t>'Average Profit by 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plt.xlabel(</a:t>
            </a:r>
            <a:r>
              <a:rPr lang="en-US" sz="2458">
                <a:solidFill>
                  <a:srgbClr val="A31515"/>
                </a:solidFill>
                <a:highlight>
                  <a:srgbClr val="FFFFFF"/>
                </a:highlight>
                <a:latin typeface="Courier New"/>
                <a:ea typeface="Courier New"/>
                <a:cs typeface="Courier New"/>
                <a:sym typeface="Courier New"/>
              </a:rPr>
              <a:t>'Crop'</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plt.ylabel(</a:t>
            </a:r>
            <a:r>
              <a:rPr lang="en-US" sz="2458">
                <a:solidFill>
                  <a:srgbClr val="A31515"/>
                </a:solidFill>
                <a:highlight>
                  <a:srgbClr val="FFFFFF"/>
                </a:highlight>
                <a:latin typeface="Courier New"/>
                <a:ea typeface="Courier New"/>
                <a:cs typeface="Courier New"/>
                <a:sym typeface="Courier New"/>
              </a:rPr>
              <a:t>'Average Profit (INR)'</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plt.xticks(rotation=</a:t>
            </a:r>
            <a:r>
              <a:rPr lang="en-US" sz="2458">
                <a:solidFill>
                  <a:srgbClr val="116644"/>
                </a:solidFill>
                <a:highlight>
                  <a:srgbClr val="FFFFFF"/>
                </a:highlight>
                <a:latin typeface="Courier New"/>
                <a:ea typeface="Courier New"/>
                <a:cs typeface="Courier New"/>
                <a:sym typeface="Courier New"/>
              </a:rPr>
              <a:t>45</a:t>
            </a:r>
            <a:r>
              <a:rPr lang="en-US" sz="2458">
                <a:solidFill>
                  <a:schemeClr val="dk1"/>
                </a:solidFill>
                <a:highlight>
                  <a:srgbClr val="FFFFFF"/>
                </a:highlight>
                <a:latin typeface="Courier New"/>
                <a:ea typeface="Courier New"/>
                <a:cs typeface="Courier New"/>
                <a:sym typeface="Courier New"/>
              </a:rPr>
              <a:t>)</a:t>
            </a:r>
            <a:endParaRPr sz="2458">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44760"/>
              <a:buFont typeface="Arial"/>
              <a:buNone/>
            </a:pPr>
            <a:r>
              <a:rPr lang="en-US" sz="2458">
                <a:solidFill>
                  <a:schemeClr val="dk1"/>
                </a:solidFill>
                <a:highlight>
                  <a:srgbClr val="FFFFFF"/>
                </a:highlight>
                <a:latin typeface="Courier New"/>
                <a:ea typeface="Courier New"/>
                <a:cs typeface="Courier New"/>
                <a:sym typeface="Courier New"/>
              </a:rPr>
              <a:t>plt.show()</a:t>
            </a:r>
            <a:endParaRPr sz="2458">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ct val="46954"/>
              <a:buNone/>
            </a:pPr>
            <a:r>
              <a:rPr lang="en-US" sz="3408"/>
              <a:t>]</a:t>
            </a:r>
            <a:endParaRPr sz="3408"/>
          </a:p>
        </p:txBody>
      </p:sp>
      <p:sp>
        <p:nvSpPr>
          <p:cNvPr id="276" name="Google Shape;276;p31"/>
          <p:cNvSpPr txBox="1"/>
          <p:nvPr/>
        </p:nvSpPr>
        <p:spPr>
          <a:xfrm>
            <a:off x="6382400" y="2316675"/>
            <a:ext cx="583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77" name="Google Shape;277;p31"/>
          <p:cNvPicPr preferRelativeResize="0"/>
          <p:nvPr/>
        </p:nvPicPr>
        <p:blipFill>
          <a:blip r:embed="rId4">
            <a:alphaModFix/>
          </a:blip>
          <a:stretch>
            <a:fillRect/>
          </a:stretch>
        </p:blipFill>
        <p:spPr>
          <a:xfrm>
            <a:off x="4610325" y="970425"/>
            <a:ext cx="6277799" cy="3923775"/>
          </a:xfrm>
          <a:prstGeom prst="rect">
            <a:avLst/>
          </a:prstGeom>
          <a:noFill/>
          <a:ln>
            <a:noFill/>
          </a:ln>
        </p:spPr>
      </p:pic>
      <p:sp>
        <p:nvSpPr>
          <p:cNvPr id="278" name="Google Shape;278;p31"/>
          <p:cNvSpPr txBox="1"/>
          <p:nvPr/>
        </p:nvSpPr>
        <p:spPr>
          <a:xfrm>
            <a:off x="590175" y="5288100"/>
            <a:ext cx="7219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Sugarcane has the highest average profit.</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Chilli is the second-highest profitable crop.</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Several crops show negative average profitability.</a:t>
            </a:r>
            <a:endParaRPr sz="18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ppt_w</p:attrName>
                                        </p:attrNameLst>
                                      </p:cBhvr>
                                      <p:tavLst>
                                        <p:tav fmla="" tm="0">
                                          <p:val>
                                            <p:strVal val="0"/>
                                          </p:val>
                                        </p:tav>
                                        <p:tav fmla="" tm="100000">
                                          <p:val>
                                            <p:strVal val="#ppt_w"/>
                                          </p:val>
                                        </p:tav>
                                      </p:tavLst>
                                    </p:anim>
                                    <p:anim calcmode="lin" valueType="num">
                                      <p:cBhvr additive="base">
                                        <p:cTn dur="500"/>
                                        <p:tgtEl>
                                          <p:spTgt spid="2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Effect filter="fade" transition="in">
                                      <p:cBhvr>
                                        <p:cTn dur="1000"/>
                                        <p:tgtEl>
                                          <p:spTgt spid="2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animEffect filter="fade" transition="in">
                                      <p:cBhvr>
                                        <p:cTn dur="1000"/>
                                        <p:tgtEl>
                                          <p:spTgt spid="2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animEffect filter="fade" transition="in">
                                      <p:cBhvr>
                                        <p:cTn dur="1000"/>
                                        <p:tgtEl>
                                          <p:spTgt spid="2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animEffect filter="fade" transition="in">
                                      <p:cBhvr>
                                        <p:cTn dur="1000"/>
                                        <p:tgtEl>
                                          <p:spTgt spid="2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4" st="4"/>
                                            </p:txEl>
                                          </p:spTgt>
                                        </p:tgtEl>
                                        <p:attrNameLst>
                                          <p:attrName>style.visibility</p:attrName>
                                        </p:attrNameLst>
                                      </p:cBhvr>
                                      <p:to>
                                        <p:strVal val="visible"/>
                                      </p:to>
                                    </p:set>
                                    <p:animEffect filter="fade" transition="in">
                                      <p:cBhvr>
                                        <p:cTn dur="1000"/>
                                        <p:tgtEl>
                                          <p:spTgt spid="2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5" st="5"/>
                                            </p:txEl>
                                          </p:spTgt>
                                        </p:tgtEl>
                                        <p:attrNameLst>
                                          <p:attrName>style.visibility</p:attrName>
                                        </p:attrNameLst>
                                      </p:cBhvr>
                                      <p:to>
                                        <p:strVal val="visible"/>
                                      </p:to>
                                    </p:set>
                                    <p:animEffect filter="fade" transition="in">
                                      <p:cBhvr>
                                        <p:cTn dur="1000"/>
                                        <p:tgtEl>
                                          <p:spTgt spid="2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6" st="6"/>
                                            </p:txEl>
                                          </p:spTgt>
                                        </p:tgtEl>
                                        <p:attrNameLst>
                                          <p:attrName>style.visibility</p:attrName>
                                        </p:attrNameLst>
                                      </p:cBhvr>
                                      <p:to>
                                        <p:strVal val="visible"/>
                                      </p:to>
                                    </p:set>
                                    <p:animEffect filter="fade" transition="in">
                                      <p:cBhvr>
                                        <p:cTn dur="1000"/>
                                        <p:tgtEl>
                                          <p:spTgt spid="2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7" st="7"/>
                                            </p:txEl>
                                          </p:spTgt>
                                        </p:tgtEl>
                                        <p:attrNameLst>
                                          <p:attrName>style.visibility</p:attrName>
                                        </p:attrNameLst>
                                      </p:cBhvr>
                                      <p:to>
                                        <p:strVal val="visible"/>
                                      </p:to>
                                    </p:set>
                                    <p:animEffect filter="fade" transition="in">
                                      <p:cBhvr>
                                        <p:cTn dur="1000"/>
                                        <p:tgtEl>
                                          <p:spTgt spid="2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8" st="8"/>
                                            </p:txEl>
                                          </p:spTgt>
                                        </p:tgtEl>
                                        <p:attrNameLst>
                                          <p:attrName>style.visibility</p:attrName>
                                        </p:attrNameLst>
                                      </p:cBhvr>
                                      <p:to>
                                        <p:strVal val="visible"/>
                                      </p:to>
                                    </p:set>
                                    <p:animEffect filter="fade" transition="in">
                                      <p:cBhvr>
                                        <p:cTn dur="1000"/>
                                        <p:tgtEl>
                                          <p:spTgt spid="27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9" st="9"/>
                                            </p:txEl>
                                          </p:spTgt>
                                        </p:tgtEl>
                                        <p:attrNameLst>
                                          <p:attrName>style.visibility</p:attrName>
                                        </p:attrNameLst>
                                      </p:cBhvr>
                                      <p:to>
                                        <p:strVal val="visible"/>
                                      </p:to>
                                    </p:set>
                                    <p:animEffect filter="fade" transition="in">
                                      <p:cBhvr>
                                        <p:cTn dur="1000"/>
                                        <p:tgtEl>
                                          <p:spTgt spid="27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0" st="10"/>
                                            </p:txEl>
                                          </p:spTgt>
                                        </p:tgtEl>
                                        <p:attrNameLst>
                                          <p:attrName>style.visibility</p:attrName>
                                        </p:attrNameLst>
                                      </p:cBhvr>
                                      <p:to>
                                        <p:strVal val="visible"/>
                                      </p:to>
                                    </p:set>
                                    <p:animEffect filter="fade" transition="in">
                                      <p:cBhvr>
                                        <p:cTn dur="1000"/>
                                        <p:tgtEl>
                                          <p:spTgt spid="27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1" st="11"/>
                                            </p:txEl>
                                          </p:spTgt>
                                        </p:tgtEl>
                                        <p:attrNameLst>
                                          <p:attrName>style.visibility</p:attrName>
                                        </p:attrNameLst>
                                      </p:cBhvr>
                                      <p:to>
                                        <p:strVal val="visible"/>
                                      </p:to>
                                    </p:set>
                                    <p:animEffect filter="fade" transition="in">
                                      <p:cBhvr>
                                        <p:cTn dur="1000"/>
                                        <p:tgtEl>
                                          <p:spTgt spid="27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2" st="12"/>
                                            </p:txEl>
                                          </p:spTgt>
                                        </p:tgtEl>
                                        <p:attrNameLst>
                                          <p:attrName>style.visibility</p:attrName>
                                        </p:attrNameLst>
                                      </p:cBhvr>
                                      <p:to>
                                        <p:strVal val="visible"/>
                                      </p:to>
                                    </p:set>
                                    <p:animEffect filter="fade" transition="in">
                                      <p:cBhvr>
                                        <p:cTn dur="1000"/>
                                        <p:tgtEl>
                                          <p:spTgt spid="27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3" st="13"/>
                                            </p:txEl>
                                          </p:spTgt>
                                        </p:tgtEl>
                                        <p:attrNameLst>
                                          <p:attrName>style.visibility</p:attrName>
                                        </p:attrNameLst>
                                      </p:cBhvr>
                                      <p:to>
                                        <p:strVal val="visible"/>
                                      </p:to>
                                    </p:set>
                                    <p:animEffect filter="fade" transition="in">
                                      <p:cBhvr>
                                        <p:cTn dur="1000"/>
                                        <p:tgtEl>
                                          <p:spTgt spid="27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14" st="14"/>
                                            </p:txEl>
                                          </p:spTgt>
                                        </p:tgtEl>
                                        <p:attrNameLst>
                                          <p:attrName>style.visibility</p:attrName>
                                        </p:attrNameLst>
                                      </p:cBhvr>
                                      <p:to>
                                        <p:strVal val="visible"/>
                                      </p:to>
                                    </p:set>
                                    <p:animEffect filter="fade" transition="in">
                                      <p:cBhvr>
                                        <p:cTn dur="1000"/>
                                        <p:tgtEl>
                                          <p:spTgt spid="275">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4" name="Google Shape;284;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85" name="Google Shape;285;p3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6" name="Google Shape;286;p3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7" name="Google Shape;287;p32"/>
          <p:cNvSpPr txBox="1"/>
          <p:nvPr>
            <p:ph idx="1" type="body"/>
          </p:nvPr>
        </p:nvSpPr>
        <p:spPr>
          <a:xfrm>
            <a:off x="168775" y="1073950"/>
            <a:ext cx="4648800" cy="43266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1600"/>
              <a:buNone/>
            </a:pPr>
            <a:r>
              <a:rPr lang="en-US"/>
              <a:t>[</a:t>
            </a:r>
            <a:r>
              <a:rPr lang="en-US" sz="1350">
                <a:solidFill>
                  <a:schemeClr val="dk1"/>
                </a:solidFill>
                <a:highlight>
                  <a:srgbClr val="FFFFFF"/>
                </a:highlight>
                <a:latin typeface="Courier New"/>
                <a:ea typeface="Courier New"/>
                <a:cs typeface="Courier New"/>
                <a:sym typeface="Courier New"/>
              </a:rPr>
              <a:t>numeric_df = df.select_dtypes(include=np.number)</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correlation = numeric_df.corr()</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plt.figure(figsize=(</a:t>
            </a:r>
            <a:r>
              <a:rPr lang="en-US" sz="1350">
                <a:solidFill>
                  <a:srgbClr val="116644"/>
                </a:solidFill>
                <a:highlight>
                  <a:srgbClr val="FFFFFF"/>
                </a:highlight>
                <a:latin typeface="Courier New"/>
                <a:ea typeface="Courier New"/>
                <a:cs typeface="Courier New"/>
                <a:sym typeface="Courier New"/>
              </a:rPr>
              <a:t>16</a:t>
            </a:r>
            <a:r>
              <a:rPr lang="en-US" sz="1350">
                <a:solidFill>
                  <a:schemeClr val="dk1"/>
                </a:solidFill>
                <a:highlight>
                  <a:srgbClr val="FFFFFF"/>
                </a:highlight>
                <a:latin typeface="Courier New"/>
                <a:ea typeface="Courier New"/>
                <a:cs typeface="Courier New"/>
                <a:sym typeface="Courier New"/>
              </a:rPr>
              <a:t>,</a:t>
            </a:r>
            <a:r>
              <a:rPr lang="en-US" sz="1350">
                <a:solidFill>
                  <a:srgbClr val="116644"/>
                </a:solidFill>
                <a:highlight>
                  <a:srgbClr val="FFFFFF"/>
                </a:highlight>
                <a:latin typeface="Courier New"/>
                <a:ea typeface="Courier New"/>
                <a:cs typeface="Courier New"/>
                <a:sym typeface="Courier New"/>
              </a:rPr>
              <a:t>12</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sns.heatmap(</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correlation,</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cmap=</a:t>
            </a:r>
            <a:r>
              <a:rPr lang="en-US" sz="1350">
                <a:solidFill>
                  <a:srgbClr val="A31515"/>
                </a:solidFill>
                <a:highlight>
                  <a:srgbClr val="FFFFFF"/>
                </a:highlight>
                <a:latin typeface="Courier New"/>
                <a:ea typeface="Courier New"/>
                <a:cs typeface="Courier New"/>
                <a:sym typeface="Courier New"/>
              </a:rPr>
              <a:t>'coolwarm'</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    center=</a:t>
            </a:r>
            <a:r>
              <a:rPr lang="en-US" sz="1350">
                <a:solidFill>
                  <a:srgbClr val="116644"/>
                </a:solidFill>
                <a:highlight>
                  <a:srgbClr val="FFFFFF"/>
                </a:highlight>
                <a:latin typeface="Courier New"/>
                <a:ea typeface="Courier New"/>
                <a:cs typeface="Courier New"/>
                <a:sym typeface="Courier New"/>
              </a:rPr>
              <a:t>0</a:t>
            </a:r>
            <a:endParaRPr sz="1350">
              <a:solidFill>
                <a:srgbClr val="116644"/>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plt.title(</a:t>
            </a:r>
            <a:r>
              <a:rPr lang="en-US" sz="1350">
                <a:solidFill>
                  <a:srgbClr val="A31515"/>
                </a:solidFill>
                <a:highlight>
                  <a:srgbClr val="FFFFFF"/>
                </a:highlight>
                <a:latin typeface="Courier New"/>
                <a:ea typeface="Courier New"/>
                <a:cs typeface="Courier New"/>
                <a:sym typeface="Courier New"/>
              </a:rPr>
              <a:t>'Correlation Matrix of Agricultural Variables'</a:t>
            </a:r>
            <a:r>
              <a:rPr lang="en-US" sz="1350">
                <a:solidFill>
                  <a:schemeClr val="dk1"/>
                </a:solidFill>
                <a:highlight>
                  <a:srgbClr val="FFFFFF"/>
                </a:highlight>
                <a:latin typeface="Courier New"/>
                <a:ea typeface="Courier New"/>
                <a:cs typeface="Courier New"/>
                <a:sym typeface="Courier New"/>
              </a:rPr>
              <a:t>)</a:t>
            </a:r>
            <a:endParaRPr sz="1350">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chemeClr val="dk1"/>
                </a:solidFill>
                <a:highlight>
                  <a:srgbClr val="FFFFFF"/>
                </a:highlight>
                <a:latin typeface="Courier New"/>
                <a:ea typeface="Courier New"/>
                <a:cs typeface="Courier New"/>
                <a:sym typeface="Courier New"/>
              </a:rPr>
              <a:t>plt.show()</a:t>
            </a:r>
            <a:endParaRPr sz="13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SzPts val="1600"/>
              <a:buNone/>
            </a:pPr>
            <a:r>
              <a:rPr lang="en-US" sz="2300"/>
              <a:t>]</a:t>
            </a:r>
            <a:endParaRPr sz="2300"/>
          </a:p>
        </p:txBody>
      </p:sp>
      <p:sp>
        <p:nvSpPr>
          <p:cNvPr id="288" name="Google Shape;288;p32"/>
          <p:cNvSpPr txBox="1"/>
          <p:nvPr/>
        </p:nvSpPr>
        <p:spPr>
          <a:xfrm>
            <a:off x="6658550" y="2270650"/>
            <a:ext cx="556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pic>
        <p:nvPicPr>
          <p:cNvPr id="289" name="Google Shape;289;p32"/>
          <p:cNvPicPr preferRelativeResize="0"/>
          <p:nvPr/>
        </p:nvPicPr>
        <p:blipFill>
          <a:blip r:embed="rId4">
            <a:alphaModFix/>
          </a:blip>
          <a:stretch>
            <a:fillRect/>
          </a:stretch>
        </p:blipFill>
        <p:spPr>
          <a:xfrm>
            <a:off x="4955550" y="133025"/>
            <a:ext cx="6956949" cy="6563750"/>
          </a:xfrm>
          <a:prstGeom prst="rect">
            <a:avLst/>
          </a:prstGeom>
          <a:noFill/>
          <a:ln>
            <a:noFill/>
          </a:ln>
        </p:spPr>
      </p:pic>
      <p:sp>
        <p:nvSpPr>
          <p:cNvPr id="290" name="Google Shape;290;p32"/>
          <p:cNvSpPr txBox="1"/>
          <p:nvPr/>
        </p:nvSpPr>
        <p:spPr>
          <a:xfrm>
            <a:off x="290925" y="5216375"/>
            <a:ext cx="6758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Short Observation:</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Yield and water efficiency show a strong positive relationship.</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Revenue has a strong positive relationship with profit.</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rPr lang="en-US" sz="1600">
                <a:solidFill>
                  <a:srgbClr val="3F3F3F"/>
                </a:solidFill>
                <a:latin typeface="Trebuchet MS"/>
                <a:ea typeface="Trebuchet MS"/>
                <a:cs typeface="Trebuchet MS"/>
                <a:sym typeface="Trebuchet MS"/>
              </a:rPr>
              <a:t>ANOVA indicates significant differences in average profit across seasons.</a:t>
            </a:r>
            <a:endParaRPr sz="1600">
              <a:solidFill>
                <a:srgbClr val="3F3F3F"/>
              </a:solidFill>
              <a:latin typeface="Trebuchet MS"/>
              <a:ea typeface="Trebuchet MS"/>
              <a:cs typeface="Trebuchet MS"/>
              <a:sym typeface="Trebuchet MS"/>
            </a:endParaRPr>
          </a:p>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6" st="6"/>
                                            </p:txEl>
                                          </p:spTgt>
                                        </p:tgtEl>
                                        <p:attrNameLst>
                                          <p:attrName>style.visibility</p:attrName>
                                        </p:attrNameLst>
                                      </p:cBhvr>
                                      <p:to>
                                        <p:strVal val="visible"/>
                                      </p:to>
                                    </p:set>
                                    <p:animEffect filter="fade" transition="in">
                                      <p:cBhvr>
                                        <p:cTn dur="1000"/>
                                        <p:tgtEl>
                                          <p:spTgt spid="2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7" st="7"/>
                                            </p:txEl>
                                          </p:spTgt>
                                        </p:tgtEl>
                                        <p:attrNameLst>
                                          <p:attrName>style.visibility</p:attrName>
                                        </p:attrNameLst>
                                      </p:cBhvr>
                                      <p:to>
                                        <p:strVal val="visible"/>
                                      </p:to>
                                    </p:set>
                                    <p:animEffect filter="fade" transition="in">
                                      <p:cBhvr>
                                        <p:cTn dur="1000"/>
                                        <p:tgtEl>
                                          <p:spTgt spid="2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8" st="8"/>
                                            </p:txEl>
                                          </p:spTgt>
                                        </p:tgtEl>
                                        <p:attrNameLst>
                                          <p:attrName>style.visibility</p:attrName>
                                        </p:attrNameLst>
                                      </p:cBhvr>
                                      <p:to>
                                        <p:strVal val="visible"/>
                                      </p:to>
                                    </p:set>
                                    <p:animEffect filter="fade" transition="in">
                                      <p:cBhvr>
                                        <p:cTn dur="1000"/>
                                        <p:tgtEl>
                                          <p:spTgt spid="2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9" st="9"/>
                                            </p:txEl>
                                          </p:spTgt>
                                        </p:tgtEl>
                                        <p:attrNameLst>
                                          <p:attrName>style.visibility</p:attrName>
                                        </p:attrNameLst>
                                      </p:cBhvr>
                                      <p:to>
                                        <p:strVal val="visible"/>
                                      </p:to>
                                    </p:set>
                                    <p:animEffect filter="fade" transition="in">
                                      <p:cBhvr>
                                        <p:cTn dur="1000"/>
                                        <p:tgtEl>
                                          <p:spTgt spid="28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0" st="10"/>
                                            </p:txEl>
                                          </p:spTgt>
                                        </p:tgtEl>
                                        <p:attrNameLst>
                                          <p:attrName>style.visibility</p:attrName>
                                        </p:attrNameLst>
                                      </p:cBhvr>
                                      <p:to>
                                        <p:strVal val="visible"/>
                                      </p:to>
                                    </p:set>
                                    <p:animEffect filter="fade" transition="in">
                                      <p:cBhvr>
                                        <p:cTn dur="1000"/>
                                        <p:tgtEl>
                                          <p:spTgt spid="28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1" st="11"/>
                                            </p:txEl>
                                          </p:spTgt>
                                        </p:tgtEl>
                                        <p:attrNameLst>
                                          <p:attrName>style.visibility</p:attrName>
                                        </p:attrNameLst>
                                      </p:cBhvr>
                                      <p:to>
                                        <p:strVal val="visible"/>
                                      </p:to>
                                    </p:set>
                                    <p:animEffect filter="fade" transition="in">
                                      <p:cBhvr>
                                        <p:cTn dur="1000"/>
                                        <p:tgtEl>
                                          <p:spTgt spid="28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2" st="12"/>
                                            </p:txEl>
                                          </p:spTgt>
                                        </p:tgtEl>
                                        <p:attrNameLst>
                                          <p:attrName>style.visibility</p:attrName>
                                        </p:attrNameLst>
                                      </p:cBhvr>
                                      <p:to>
                                        <p:strVal val="visible"/>
                                      </p:to>
                                    </p:set>
                                    <p:animEffect filter="fade" transition="in">
                                      <p:cBhvr>
                                        <p:cTn dur="1000"/>
                                        <p:tgtEl>
                                          <p:spTgt spid="28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3" st="13"/>
                                            </p:txEl>
                                          </p:spTgt>
                                        </p:tgtEl>
                                        <p:attrNameLst>
                                          <p:attrName>style.visibility</p:attrName>
                                        </p:attrNameLst>
                                      </p:cBhvr>
                                      <p:to>
                                        <p:strVal val="visible"/>
                                      </p:to>
                                    </p:set>
                                    <p:animEffect filter="fade" transition="in">
                                      <p:cBhvr>
                                        <p:cTn dur="1000"/>
                                        <p:tgtEl>
                                          <p:spTgt spid="28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4" st="14"/>
                                            </p:txEl>
                                          </p:spTgt>
                                        </p:tgtEl>
                                        <p:attrNameLst>
                                          <p:attrName>style.visibility</p:attrName>
                                        </p:attrNameLst>
                                      </p:cBhvr>
                                      <p:to>
                                        <p:strVal val="visible"/>
                                      </p:to>
                                    </p:set>
                                    <p:animEffect filter="fade" transition="in">
                                      <p:cBhvr>
                                        <p:cTn dur="1000"/>
                                        <p:tgtEl>
                                          <p:spTgt spid="287">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6" name="Google Shape;296;p33"/>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97" name="Google Shape;297;p33"/>
          <p:cNvSpPr txBox="1"/>
          <p:nvPr/>
        </p:nvSpPr>
        <p:spPr>
          <a:xfrm>
            <a:off x="390025" y="1390475"/>
            <a:ext cx="6245400" cy="5081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Predictive Analysis: Develop models to predict future agricultural yield and profitability.</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Weather Integration: Incorporate historical and real-time weather data for better seasonal analysis.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Crop Recommendation: Develop a system to recommend suitable crops based on seasonal and environmental conditions.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Risk Prediction: Build models to predict disease and pest risks.</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Interactive Dashboard: Develop a Power BI/Tableau dashboard for easier monitoring and decision-making.</a:t>
            </a:r>
            <a:endParaRPr sz="2000">
              <a:solidFill>
                <a:schemeClr val="dk1"/>
              </a:solidFill>
              <a:latin typeface="Trebuchet MS"/>
              <a:ea typeface="Trebuchet MS"/>
              <a:cs typeface="Trebuchet MS"/>
              <a:sym typeface="Trebuchet MS"/>
            </a:endParaRPr>
          </a:p>
          <a:p>
            <a:pPr indent="-355600" lvl="0" marL="457200" rtl="0" algn="l">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Regional Expansion: Extend the analysis to more regions, crops and historical agricultural data.</a:t>
            </a:r>
            <a:endParaRPr sz="2000">
              <a:solidFill>
                <a:schemeClr val="dk1"/>
              </a:solidFill>
              <a:latin typeface="Trebuchet MS"/>
              <a:ea typeface="Trebuchet MS"/>
              <a:cs typeface="Trebuchet MS"/>
              <a:sym typeface="Trebuchet MS"/>
            </a:endParaRPr>
          </a:p>
        </p:txBody>
      </p:sp>
      <p:sp>
        <p:nvSpPr>
          <p:cNvPr id="298" name="Google Shape;298;p3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ppt_w</p:attrName>
                                        </p:attrNameLst>
                                      </p:cBhvr>
                                      <p:tavLst>
                                        <p:tav fmla="" tm="0">
                                          <p:val>
                                            <p:strVal val="0"/>
                                          </p:val>
                                        </p:tav>
                                        <p:tav fmla="" tm="100000">
                                          <p:val>
                                            <p:strVal val="#ppt_w"/>
                                          </p:val>
                                        </p:tav>
                                      </p:tavLst>
                                    </p:anim>
                                    <p:anim calcmode="lin" valueType="num">
                                      <p:cBhvr additive="base">
                                        <p:cTn dur="500"/>
                                        <p:tgtEl>
                                          <p:spTgt spid="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4" name="Google Shape;304;p34"/>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05" name="Google Shape;305;p34"/>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6" name="Google Shape;306;p34"/>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7" name="Google Shape;307;p34"/>
          <p:cNvSpPr txBox="1"/>
          <p:nvPr/>
        </p:nvSpPr>
        <p:spPr>
          <a:xfrm>
            <a:off x="647700" y="1285155"/>
            <a:ext cx="7262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https://github.com/pawarmayankr-glitch/Seasonal-Agriculture-Performance-Analysis.git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ppt_w</p:attrName>
                                        </p:attrNameLst>
                                      </p:cBhvr>
                                      <p:tavLst>
                                        <p:tav fmla="" tm="0">
                                          <p:val>
                                            <p:strVal val="0"/>
                                          </p:val>
                                        </p:tav>
                                        <p:tav fmla="" tm="100000">
                                          <p:val>
                                            <p:strVal val="#ppt_w"/>
                                          </p:val>
                                        </p:tav>
                                      </p:tavLst>
                                    </p:anim>
                                    <p:anim calcmode="lin" valueType="num">
                                      <p:cBhvr additive="base">
                                        <p:cTn dur="500"/>
                                        <p:tgtEl>
                                          <p:spTgt spid="3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3" name="Google Shape;313;p35"/>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14" name="Google Shape;314;p35"/>
          <p:cNvSpPr txBox="1"/>
          <p:nvPr/>
        </p:nvSpPr>
        <p:spPr>
          <a:xfrm>
            <a:off x="647700" y="1716900"/>
            <a:ext cx="5232900" cy="44934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5" name="Google Shape;315;p35"/>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16" name="Google Shape;316;p35" title="data visulization vois.jpeg"/>
          <p:cNvPicPr preferRelativeResize="0"/>
          <p:nvPr/>
        </p:nvPicPr>
        <p:blipFill>
          <a:blip r:embed="rId4">
            <a:alphaModFix/>
          </a:blip>
          <a:stretch>
            <a:fillRect/>
          </a:stretch>
        </p:blipFill>
        <p:spPr>
          <a:xfrm>
            <a:off x="1085100" y="1396150"/>
            <a:ext cx="7644649" cy="50757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ppt_w</p:attrName>
                                        </p:attrNameLst>
                                      </p:cBhvr>
                                      <p:tavLst>
                                        <p:tav fmla="" tm="0">
                                          <p:val>
                                            <p:strVal val="0"/>
                                          </p:val>
                                        </p:tav>
                                        <p:tav fmla="" tm="100000">
                                          <p:val>
                                            <p:strVal val="#ppt_w"/>
                                          </p:val>
                                        </p:tav>
                                      </p:tavLst>
                                    </p:anim>
                                    <p:anim calcmode="lin" valueType="num">
                                      <p:cBhvr additive="base">
                                        <p:cTn dur="500"/>
                                        <p:tgtEl>
                                          <p:spTgt spid="3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22" name="Google Shape;322;p36"/>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23" name="Google Shape;323;p36"/>
          <p:cNvSpPr txBox="1"/>
          <p:nvPr/>
        </p:nvSpPr>
        <p:spPr>
          <a:xfrm>
            <a:off x="1660787" y="4872918"/>
            <a:ext cx="2596500" cy="453900"/>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24" name="Google Shape;324;p36"/>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5" name="Google Shape;325;p36"/>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6" name="Google Shape;326;p36"/>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27" name="Google Shape;327;p36"/>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28" name="Google Shape;328;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9" name="Google Shape;329;p36"/>
          <p:cNvSpPr txBox="1"/>
          <p:nvPr>
            <p:ph idx="7" type="body"/>
          </p:nvPr>
        </p:nvSpPr>
        <p:spPr>
          <a:xfrm>
            <a:off x="279976" y="4416500"/>
            <a:ext cx="6056400" cy="700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600"/>
              <a:buNone/>
            </a:pPr>
            <a:r>
              <a:rPr lang="en-US" sz="2500"/>
              <a:t>Presented by: Mayank Pawar </a:t>
            </a:r>
            <a:endParaRPr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ppt_w</p:attrName>
                                        </p:attrNameLst>
                                      </p:cBhvr>
                                      <p:tavLst>
                                        <p:tav fmla="" tm="0">
                                          <p:val>
                                            <p:strVal val="0"/>
                                          </p:val>
                                        </p:tav>
                                        <p:tav fmla="" tm="100000">
                                          <p:val>
                                            <p:strVal val="#ppt_w"/>
                                          </p:val>
                                        </p:tav>
                                      </p:tavLst>
                                    </p:anim>
                                    <p:anim calcmode="lin" valueType="num">
                                      <p:cBhvr additive="base">
                                        <p:cTn dur="500"/>
                                        <p:tgtEl>
                                          <p:spTgt spid="3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5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